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JetBrains Mono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f1ec36a3-50bd-4c74-b3de-46fa244f4172.fntdata" /><ns0:Relationship Id="rIdFont20" Type="http://schemas.openxmlformats.org/officeDocument/2006/relationships/font" Target="fonts/ade19c62-dcc2-4d35-a936-e1c53b1d337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1A1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581501"/>
            <a:ext cx="109728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581501"/>
            <a:ext cx="10972800" cy="9525"/>
          </a:xfrm>
          <a:prstGeom prst="rect">
            <a:avLst/>
          </a:prstGeom>
          <a:solidFill>
            <a:srgbClr val="1A1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866775"/>
            <a:ext cx="2457450" cy="295275"/>
          </a:xfrm>
          <a:prstGeom prst="roundRect">
            <a:avLst>
              <a:gd name="adj" fmla="val 12903"/>
            </a:avLst>
          </a:prstGeom>
          <a:solidFill>
            <a:srgbClr val="130B24"/>
          </a:solidFill>
          <a:ln w="9525">
            <a:solidFill>
              <a:srgbClr val="2E10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47700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8100" y="5981551"/>
            <a:ext cx="11430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2844105"/>
            <a:ext cx="10626328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AF5FF"/>
                </a:solidFill>
                <a:latin typeface="Aptos"/>
              </a:rPr>
              <a:t>FinOps &amp; Cloud Cost Observability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42270"/>
            <a:ext cx="657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084FC"/>
                </a:solidFill>
                <a:latin typeface="Aptos"/>
              </a:rPr>
              <a:t>Automated cost monitoring, budget variance analysis, and idle resource detection using lightweight Python analytics.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09600"/>
            <a:ext cx="5643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855F7"/>
                </a:solidFill>
                <a:latin typeface="Aptos"/>
              </a:rPr>
              <a:t>SYSTEM PROVISIONING &amp; MONITORING • EXPERIMENT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923925"/>
            <a:ext cx="23241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D8B4FE"/>
                </a:solidFill>
                <a:latin typeface="JetBrains Mono"/>
              </a:rPr>
              <a:t>CO5 • Python Proof of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05975" y="5962501"/>
            <a:ext cx="2107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084FC"/>
                </a:solidFill>
                <a:latin typeface="Aptos"/>
              </a:rPr>
              <a:t>Cloud Financial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857726"/>
            <a:ext cx="23812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F8FAFC"/>
                </a:solidFill>
                <a:latin typeface="Aptos"/>
              </a:rPr>
              <a:t>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038701"/>
            <a:ext cx="238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3E8FF"/>
                </a:solidFill>
                <a:latin typeface="Aptos"/>
              </a:rPr>
              <a:t>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5600" y="5857726"/>
            <a:ext cx="23812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F8FAFC"/>
                </a:solidFill>
                <a:latin typeface="Aptos"/>
              </a:rPr>
              <a:t>ROLL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600" y="6038701"/>
            <a:ext cx="238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3E8FF"/>
                </a:solidFill>
                <a:latin typeface="Aptos"/>
              </a:rPr>
              <a:t>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38069" y="1524000"/>
            <a:ext cx="4644330" cy="4800600"/>
          </a:xfrm>
          <a:prstGeom prst="roundRect">
            <a:avLst>
              <a:gd name="adj" fmla="val 2461"/>
            </a:avLst>
          </a:prstGeom>
          <a:solidFill>
            <a:srgbClr val="05030A"/>
          </a:solidFill>
          <a:ln w="9525">
            <a:solidFill>
              <a:srgbClr val="3B07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412801"/>
            <a:ext cx="6023669" cy="10304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595687"/>
            <a:ext cx="6023669" cy="8438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591942"/>
            <a:ext cx="6023669" cy="8438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433762"/>
            <a:ext cx="6023669" cy="9525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412801"/>
            <a:ext cx="6023669" cy="9525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412801"/>
            <a:ext cx="38100" cy="1030485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3744" y="2412801"/>
            <a:ext cx="9525" cy="1030485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430017"/>
            <a:ext cx="6023669" cy="9525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595687"/>
            <a:ext cx="6023669" cy="9525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595687"/>
            <a:ext cx="38100" cy="843855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3744" y="3595687"/>
            <a:ext cx="9525" cy="843855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426273"/>
            <a:ext cx="6023669" cy="9525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4591942"/>
            <a:ext cx="6023669" cy="9525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4591942"/>
            <a:ext cx="38100" cy="843855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23744" y="4591942"/>
            <a:ext cx="9525" cy="843855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394" y="3104257"/>
            <a:ext cx="381000" cy="381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169" y="3209032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91875" y="533400"/>
            <a:ext cx="676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855F7"/>
                </a:solidFill>
                <a:latin typeface="Aptos"/>
              </a:rPr>
              <a:t>01 /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52450"/>
            <a:ext cx="3667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E22CE"/>
                </a:solidFill>
                <a:latin typeface="Aptos"/>
              </a:rPr>
              <a:t>CONTEXT &amp; CHALLENGES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762000"/>
            <a:ext cx="385048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5030A"/>
                </a:solidFill>
                <a:latin typeface="Aptos"/>
              </a:rPr>
              <a:t>Problem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2394" y="3675757"/>
            <a:ext cx="493960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8B4FE"/>
                </a:solidFill>
                <a:latin typeface="Aptos"/>
              </a:rPr>
              <a:t>CORE OBJECTIVE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2394" y="3904357"/>
            <a:ext cx="4939605" cy="297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800" i="0" u="none">
                <a:solidFill>
                  <a:srgbClr val="FAF5FF"/>
                </a:solidFill>
                <a:latin typeface="Aptos"/>
              </a:rPr>
              <a:t>Real-Time Financial 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2394" y="4315717"/>
            <a:ext cx="411093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084FC"/>
                </a:solidFill>
                <a:latin typeface="Aptos"/>
              </a:rPr>
              <a:t>Make total cost, budget variance, and waste reduction candidates instantly visible to engineering leads.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2612826"/>
            <a:ext cx="724348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030A"/>
                </a:solidFill>
                <a:latin typeface="Aptos"/>
              </a:rPr>
              <a:t>Distributed Cloud Spend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" y="2870001"/>
            <a:ext cx="5614094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C1D95"/>
                </a:solidFill>
                <a:latin typeface="Aptos"/>
              </a:rPr>
              <a:t>Fragmented costs across multi-cloud services and dynamic infrastructure micro-resources.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300" y="3795712"/>
            <a:ext cx="724348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030A"/>
                </a:solidFill>
                <a:latin typeface="Aptos"/>
              </a:rPr>
              <a:t>Delayed Overspend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300" y="4052887"/>
            <a:ext cx="6898555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C1D95"/>
                </a:solidFill>
                <a:latin typeface="Aptos"/>
              </a:rPr>
              <a:t>Manual monthly billing reviews detect budget overruns weeks after spend occurs.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300" y="4791967"/>
            <a:ext cx="724348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030A"/>
                </a:solidFill>
                <a:latin typeface="Aptos"/>
              </a:rPr>
              <a:t>Zombie Infrastructure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300" y="5049142"/>
            <a:ext cx="6898555" cy="186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C1D95"/>
                </a:solidFill>
                <a:latin typeface="Aptos"/>
              </a:rPr>
              <a:t>Unattached disks and idle compute instances incur silent, continuous charges.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29300"/>
            <a:ext cx="10972800" cy="495300"/>
          </a:xfrm>
          <a:prstGeom prst="roundRect">
            <a:avLst>
              <a:gd name="adj" fmla="val 15384"/>
            </a:avLst>
          </a:prstGeom>
          <a:solidFill>
            <a:srgbClr val="F3E8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47950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647950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647950"/>
            <a:ext cx="350520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6000750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000375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3000375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25" y="3000375"/>
            <a:ext cx="28575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63300" y="533400"/>
            <a:ext cx="704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855F7"/>
                </a:solidFill>
                <a:latin typeface="Aptos"/>
              </a:rPr>
              <a:t>02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5991225"/>
            <a:ext cx="8798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B0764"/>
                </a:solidFill>
                <a:latin typeface="Aptos"/>
              </a:rPr>
              <a:t>Key Takeaway:</a:t>
            </a:r>
            <a:r>
              <a:rPr b="0" sz="1050" i="0" u="none">
                <a:solidFill>
                  <a:srgbClr val="3B0764"/>
                </a:solidFill>
                <a:latin typeface="Aptos"/>
              </a:rPr>
              <a:t> Cost observability is the foundational technical mechanic supporting broader FinOps governance.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52450"/>
            <a:ext cx="4179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E22CE"/>
                </a:solidFill>
                <a:latin typeface="Aptos"/>
              </a:rPr>
              <a:t>FRAMEWORK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62000"/>
            <a:ext cx="438804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5030A"/>
                </a:solidFill>
                <a:latin typeface="Aptos"/>
              </a:rPr>
              <a:t>Understanding FinOps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400425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5030A"/>
                </a:solidFill>
                <a:latin typeface="Aptos"/>
              </a:rPr>
              <a:t>Cross-Functional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714750"/>
            <a:ext cx="2971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C1D95"/>
                </a:solidFill>
                <a:latin typeface="Aptos"/>
              </a:rPr>
              <a:t>Cultural discipline uniting engineering, finance, and executive leadership under shared accountability.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400425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5030A"/>
                </a:solidFill>
                <a:latin typeface="Aptos"/>
              </a:rPr>
              <a:t>Cost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3714750"/>
            <a:ext cx="2971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C1D95"/>
                </a:solidFill>
                <a:latin typeface="Aptos"/>
              </a:rPr>
              <a:t>Provides granular visibility into resource consumption, cost drivers, and allocation efficiency.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400425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5030A"/>
                </a:solidFill>
                <a:latin typeface="Aptos"/>
              </a:rPr>
              <a:t>Value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3714750"/>
            <a:ext cx="2971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C1D95"/>
                </a:solidFill>
                <a:latin typeface="Aptos"/>
              </a:rPr>
              <a:t>Balances velocity, technical quality, and unit economics to maximize business revenue per cloud dollar.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71762"/>
            <a:ext cx="3371850" cy="2428875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0075" y="2671762"/>
            <a:ext cx="3371850" cy="2428875"/>
          </a:xfrm>
          <a:prstGeom prst="roundRect">
            <a:avLst>
              <a:gd name="adj" fmla="val 4705"/>
            </a:avLst>
          </a:prstGeom>
          <a:solidFill>
            <a:srgbClr val="05030A"/>
          </a:solidFill>
          <a:ln w="9525">
            <a:solidFill>
              <a:srgbClr val="3B07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10550" y="2671762"/>
            <a:ext cx="3371850" cy="2428875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4176712"/>
            <a:ext cx="2819400" cy="647700"/>
          </a:xfrm>
          <a:prstGeom prst="roundRect">
            <a:avLst>
              <a:gd name="adj" fmla="val 8823"/>
            </a:avLst>
          </a:prstGeom>
          <a:solidFill>
            <a:srgbClr val="FAF5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86300" y="4176712"/>
            <a:ext cx="2819400" cy="647700"/>
          </a:xfrm>
          <a:prstGeom prst="roundRect">
            <a:avLst>
              <a:gd name="adj" fmla="val 8823"/>
            </a:avLst>
          </a:prstGeom>
          <a:solidFill>
            <a:srgbClr val="130B24"/>
          </a:solidFill>
          <a:ln w="9525">
            <a:solidFill>
              <a:srgbClr val="2E10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2967037"/>
            <a:ext cx="552450" cy="200025"/>
          </a:xfrm>
          <a:prstGeom prst="roundRect">
            <a:avLst>
              <a:gd name="adj" fmla="val 19047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86300" y="2967037"/>
            <a:ext cx="581025" cy="200025"/>
          </a:xfrm>
          <a:prstGeom prst="roundRect">
            <a:avLst>
              <a:gd name="adj" fmla="val 19047"/>
            </a:avLst>
          </a:prstGeom>
          <a:solidFill>
            <a:srgbClr val="130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86775" y="2967037"/>
            <a:ext cx="581025" cy="200025"/>
          </a:xfrm>
          <a:prstGeom prst="roundRect">
            <a:avLst>
              <a:gd name="adj" fmla="val 19047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86775" y="3767137"/>
            <a:ext cx="2819400" cy="314325"/>
          </a:xfrm>
          <a:prstGeom prst="roundRect">
            <a:avLst>
              <a:gd name="adj" fmla="val 18181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86775" y="4138612"/>
            <a:ext cx="2819400" cy="314325"/>
          </a:xfrm>
          <a:prstGeom prst="roundRect">
            <a:avLst>
              <a:gd name="adj" fmla="val 18181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86775" y="4510087"/>
            <a:ext cx="2819400" cy="314325"/>
          </a:xfrm>
          <a:prstGeom prst="roundRect">
            <a:avLst>
              <a:gd name="adj" fmla="val 18181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850" y="3790950"/>
            <a:ext cx="1238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325" y="3790950"/>
            <a:ext cx="12382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3871912"/>
            <a:ext cx="133350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4243387"/>
            <a:ext cx="114300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4614862"/>
            <a:ext cx="133350" cy="1143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53775" y="533400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855F7"/>
                </a:solidFill>
                <a:latin typeface="Aptos"/>
              </a:rPr>
              <a:t>03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52450"/>
            <a:ext cx="5250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E22CE"/>
                </a:solidFill>
                <a:latin typeface="Aptos"/>
              </a:rPr>
              <a:t>SYSTEM BLUEPRINT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62000"/>
            <a:ext cx="551318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5030A"/>
                </a:solidFill>
                <a:latin typeface="Aptos"/>
              </a:rPr>
              <a:t>Architecture &amp; Data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125" y="4291012"/>
            <a:ext cx="2686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3B0764"/>
                </a:solidFill>
                <a:latin typeface="JetBrains Mono"/>
              </a:rPr>
              <a:t>• Service &amp; Resource ID</a:t>
            </a:r>
            <a:r>
              <a:t>
</a:t>
            </a:r>
            <a:r>
              <a:rPr b="0" sz="825" i="0" u="none">
                <a:solidFill>
                  <a:srgbClr val="3B0764"/>
                </a:solidFill>
                <a:latin typeface="JetBrains Mono"/>
              </a:rPr>
              <a:t> • Actual Cost &amp; Budget</a:t>
            </a:r>
            <a:r>
              <a:t>
</a:t>
            </a:r>
            <a:r>
              <a:rPr b="0" sz="825" i="0" u="none">
                <a:solidFill>
                  <a:srgbClr val="3B0764"/>
                </a:solidFill>
                <a:latin typeface="JetBrains Mono"/>
              </a:rPr>
              <a:t> • CPU Util % &amp; Idle Flag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291012"/>
            <a:ext cx="2686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C084FC"/>
                </a:solidFill>
                <a:latin typeface="JetBrains Mono"/>
              </a:rPr>
              <a:t>&gt; aggregate_costs_by_service()</a:t>
            </a:r>
            <a:r>
              <a:t>
</a:t>
            </a:r>
            <a:r>
              <a:rPr b="0" sz="825" i="0" u="none">
                <a:solidFill>
                  <a:srgbClr val="C084FC"/>
                </a:solidFill>
                <a:latin typeface="JetBrains Mono"/>
              </a:rPr>
              <a:t> &gt; evaluate_budget_variance()</a:t>
            </a:r>
            <a:r>
              <a:t>
</a:t>
            </a:r>
            <a:r>
              <a:rPr b="0" sz="825" i="0" u="none">
                <a:solidFill>
                  <a:srgbClr val="C084FC"/>
                </a:solidFill>
                <a:latin typeface="JetBrains Mono"/>
              </a:rPr>
              <a:t> &gt; filter_idle_candidates()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3005137"/>
            <a:ext cx="4953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E22CE"/>
                </a:solidFill>
                <a:latin typeface="Aptos"/>
              </a:rPr>
              <a:t>STAGE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825" y="3300412"/>
            <a:ext cx="37004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5030A"/>
                </a:solidFill>
                <a:latin typeface="Aptos"/>
              </a:rPr>
              <a:t>Billing Data Ingestion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3614737"/>
            <a:ext cx="2914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C1D95"/>
                </a:solidFill>
                <a:latin typeface="Aptos"/>
              </a:rPr>
              <a:t>Structured CSV telemetry containing resource metadata.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500" y="3005137"/>
            <a:ext cx="5238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C084FC"/>
                </a:solidFill>
                <a:latin typeface="Aptos"/>
              </a:rPr>
              <a:t>STAGE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6300" y="3300412"/>
            <a:ext cx="37004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AF5FF"/>
                </a:solidFill>
                <a:latin typeface="Aptos"/>
              </a:rPr>
              <a:t>Python Core 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6300" y="3614737"/>
            <a:ext cx="2914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D8B4FE"/>
                </a:solidFill>
                <a:latin typeface="Aptos"/>
              </a:rPr>
              <a:t>Aggregates records and executes rule-based evaluations.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2975" y="3005137"/>
            <a:ext cx="5238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7E22CE"/>
                </a:solidFill>
                <a:latin typeface="Aptos"/>
              </a:rPr>
              <a:t>STAGE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6775" y="3300412"/>
            <a:ext cx="37004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5030A"/>
                </a:solidFill>
                <a:latin typeface="Aptos"/>
              </a:rPr>
              <a:t>Multi-Format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6775" y="3614737"/>
            <a:ext cx="3524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C1D95"/>
                </a:solidFill>
                <a:latin typeface="Aptos"/>
              </a:rPr>
              <a:t>Delivers executive &amp; technical reports.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01075" y="3843337"/>
            <a:ext cx="2686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B0764"/>
                </a:solidFill>
                <a:latin typeface="Aptos"/>
              </a:rPr>
              <a:t>Terminal 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1075" y="4214812"/>
            <a:ext cx="2686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B0764"/>
                </a:solidFill>
                <a:latin typeface="Aptos"/>
              </a:rPr>
              <a:t>Export CSV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01075" y="4586287"/>
            <a:ext cx="2686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B0764"/>
                </a:solidFill>
                <a:latin typeface="Aptos"/>
              </a:rPr>
              <a:t>HTML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79415"/>
            <a:ext cx="2103090" cy="1489620"/>
          </a:xfrm>
          <a:prstGeom prst="roundRect">
            <a:avLst>
              <a:gd name="adj" fmla="val 51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26990" y="3179415"/>
            <a:ext cx="2103090" cy="1489620"/>
          </a:xfrm>
          <a:prstGeom prst="roundRect">
            <a:avLst>
              <a:gd name="adj" fmla="val 51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44380" y="3179415"/>
            <a:ext cx="2103090" cy="1489620"/>
          </a:xfrm>
          <a:prstGeom prst="roundRect">
            <a:avLst>
              <a:gd name="adj" fmla="val 51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61770" y="3179415"/>
            <a:ext cx="2103090" cy="1489620"/>
          </a:xfrm>
          <a:prstGeom prst="roundRect">
            <a:avLst>
              <a:gd name="adj" fmla="val 51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79160" y="3179415"/>
            <a:ext cx="2103090" cy="1489620"/>
          </a:xfrm>
          <a:prstGeom prst="roundRect">
            <a:avLst>
              <a:gd name="adj" fmla="val 51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659510"/>
            <a:ext cx="2103090" cy="9525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179415"/>
            <a:ext cx="2103090" cy="38100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179415"/>
            <a:ext cx="9525" cy="14896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03165" y="3179415"/>
            <a:ext cx="9525" cy="14896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26990" y="4659510"/>
            <a:ext cx="2103090" cy="9525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26990" y="3179415"/>
            <a:ext cx="2103090" cy="38100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26990" y="3179415"/>
            <a:ext cx="9525" cy="14896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20555" y="3179415"/>
            <a:ext cx="9525" cy="14896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44380" y="4659510"/>
            <a:ext cx="2103090" cy="9525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44380" y="3179415"/>
            <a:ext cx="2103090" cy="38100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44380" y="3179415"/>
            <a:ext cx="9525" cy="14896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7945" y="3179415"/>
            <a:ext cx="9525" cy="14896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1770" y="4659510"/>
            <a:ext cx="2103090" cy="9525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1770" y="3179415"/>
            <a:ext cx="2103090" cy="38100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1770" y="3179415"/>
            <a:ext cx="9525" cy="14896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55335" y="3179415"/>
            <a:ext cx="9525" cy="14896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79160" y="4659510"/>
            <a:ext cx="2103090" cy="9525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79160" y="3179415"/>
            <a:ext cx="2103090" cy="38100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79160" y="3179415"/>
            <a:ext cx="9525" cy="14896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572726" y="3179415"/>
            <a:ext cx="9525" cy="1489620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3775" y="533400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855F7"/>
                </a:solidFill>
                <a:latin typeface="Aptos"/>
              </a:rPr>
              <a:t>04 /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552450"/>
            <a:ext cx="5203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E22CE"/>
                </a:solidFill>
                <a:latin typeface="Aptos"/>
              </a:rPr>
              <a:t>PROCESS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762000"/>
            <a:ext cx="546318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5030A"/>
                </a:solidFill>
                <a:latin typeface="Aptos"/>
              </a:rPr>
              <a:t>5-Step Execution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525" y="3446115"/>
            <a:ext cx="22240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E22CE"/>
                </a:solidFill>
                <a:latin typeface="JetBrains Mono"/>
              </a:rPr>
              <a:t>STEP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525" y="3712815"/>
            <a:ext cx="233525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5030A"/>
                </a:solidFill>
                <a:latin typeface="Aptos"/>
              </a:rPr>
              <a:t>Ingest 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525" y="3950940"/>
            <a:ext cx="187449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C1D95"/>
                </a:solidFill>
                <a:latin typeface="Aptos"/>
              </a:rPr>
              <a:t>Load billing records &amp; raw resource telemetry.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88915" y="3446115"/>
            <a:ext cx="22240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E22CE"/>
                </a:solidFill>
                <a:latin typeface="JetBrains Mono"/>
              </a:rPr>
              <a:t>STEP 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88915" y="3712815"/>
            <a:ext cx="233525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5030A"/>
                </a:solidFill>
                <a:latin typeface="Aptos"/>
              </a:rPr>
              <a:t>Aggregate Spend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88915" y="3950940"/>
            <a:ext cx="187449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C1D95"/>
                </a:solidFill>
                <a:latin typeface="Aptos"/>
              </a:rPr>
              <a:t>Sum cost across service boundaries &amp; total infrastructure.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06305" y="3446115"/>
            <a:ext cx="22240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E22CE"/>
                </a:solidFill>
                <a:latin typeface="JetBrains Mono"/>
              </a:rPr>
              <a:t>STEP 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06305" y="3712815"/>
            <a:ext cx="233525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5030A"/>
                </a:solidFill>
                <a:latin typeface="Aptos"/>
              </a:rPr>
              <a:t>Variance 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06305" y="3950940"/>
            <a:ext cx="187449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C1D95"/>
                </a:solidFill>
                <a:latin typeface="Aptos"/>
              </a:rPr>
              <a:t>Compare actual resource costs against set budgets.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3695" y="3446115"/>
            <a:ext cx="22240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E22CE"/>
                </a:solidFill>
                <a:latin typeface="JetBrains Mono"/>
              </a:rPr>
              <a:t>STEP 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3695" y="3712815"/>
            <a:ext cx="233525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5030A"/>
                </a:solidFill>
                <a:latin typeface="Aptos"/>
              </a:rPr>
              <a:t>Flag Waste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3695" y="3950940"/>
            <a:ext cx="187449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C1D95"/>
                </a:solidFill>
                <a:latin typeface="Aptos"/>
              </a:rPr>
              <a:t>Isolate idle resources for technical review.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1085" y="3446115"/>
            <a:ext cx="22240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E22CE"/>
                </a:solidFill>
                <a:latin typeface="JetBrains Mono"/>
              </a:rPr>
              <a:t>STEP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1085" y="3712815"/>
            <a:ext cx="233525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5030A"/>
                </a:solidFill>
                <a:latin typeface="Aptos"/>
              </a:rPr>
              <a:t>Export Artifacts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1085" y="3950940"/>
            <a:ext cx="187449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4C1D95"/>
                </a:solidFill>
                <a:latin typeface="Aptos"/>
              </a:rPr>
              <a:t>Generate HTML dashboard &amp; summary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47800"/>
            <a:ext cx="6591300" cy="4876800"/>
          </a:xfrm>
          <a:prstGeom prst="roundRect">
            <a:avLst>
              <a:gd name="adj" fmla="val 2343"/>
            </a:avLst>
          </a:prstGeom>
          <a:solidFill>
            <a:srgbClr val="05030A"/>
          </a:solidFill>
          <a:ln w="9525">
            <a:solidFill>
              <a:srgbClr val="3B07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7725" y="5829151"/>
            <a:ext cx="6115050" cy="9525"/>
          </a:xfrm>
          <a:prstGeom prst="rect">
            <a:avLst/>
          </a:prstGeom>
          <a:solidFill>
            <a:srgbClr val="130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25" y="16859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38225" y="16859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28725" y="16859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700" y="2818804"/>
            <a:ext cx="260598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700" y="3593901"/>
            <a:ext cx="313878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5700" y="4368998"/>
            <a:ext cx="27429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9249" y="2914054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5889" y="3689151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6570" y="4464248"/>
            <a:ext cx="1524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3775" y="533400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855F7"/>
                </a:solidFill>
                <a:latin typeface="Aptos"/>
              </a:rPr>
              <a:t>05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52450"/>
            <a:ext cx="4429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E22CE"/>
                </a:solidFill>
                <a:latin typeface="Aptos"/>
              </a:rPr>
              <a:t>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62000"/>
            <a:ext cx="465058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5030A"/>
                </a:solidFill>
                <a:latin typeface="Aptos"/>
              </a:rPr>
              <a:t>Working Demonstration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999482"/>
            <a:ext cx="6210300" cy="1782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F8FAFC"/>
                </a:solidFill>
                <a:latin typeface="JetBrains Mono"/>
              </a:rPr>
              <a:t># Run pipeline execution script</a:t>
            </a:r>
            <a:r>
              <a:t>
</a:t>
            </a:r>
            <a:r>
              <a:rPr b="0" sz="975" i="0" u="none">
                <a:solidFill>
                  <a:srgbClr val="C084FC"/>
                </a:solidFill>
                <a:latin typeface="JetBrains Mono"/>
              </a:rPr>
              <a:t>$ python</a:t>
            </a:r>
            <a:r>
              <a:rPr b="0" sz="975" i="0" u="none">
                <a:solidFill>
                  <a:srgbClr val="FAF5FF"/>
                </a:solidFill>
                <a:latin typeface="JetBrains Mono"/>
              </a:rPr>
              <a:t> demo/finops_dashboard.py</a:t>
            </a:r>
            <a:r>
              <a:t>
</a:t>
            </a:r>
            <a:r>
              <a:t>
</a:t>
            </a:r>
            <a:r>
              <a:rPr b="0" sz="975" i="0" u="none">
                <a:solidFill>
                  <a:srgbClr val="10B981"/>
                </a:solidFill>
                <a:latin typeface="JetBrains Mono"/>
              </a:rPr>
              <a:t>[SUCCESS]</a:t>
            </a:r>
            <a:r>
              <a:rPr b="0" sz="975" i="0" u="none">
                <a:solidFill>
                  <a:srgbClr val="FAF5FF"/>
                </a:solidFill>
                <a:latin typeface="JetBrains Mono"/>
              </a:rPr>
              <a:t> Ingested 8 records from billing.csv</a:t>
            </a:r>
            <a:r>
              <a:t>
</a:t>
            </a:r>
            <a:r>
              <a:rPr b="0" sz="975" i="0" u="none">
                <a:solidFill>
                  <a:srgbClr val="10B981"/>
                </a:solidFill>
                <a:latin typeface="JetBrains Mono"/>
              </a:rPr>
              <a:t>[SUCCESS]</a:t>
            </a:r>
            <a:r>
              <a:rPr b="0" sz="975" i="0" u="none">
                <a:solidFill>
                  <a:srgbClr val="FAF5FF"/>
                </a:solidFill>
                <a:latin typeface="JetBrains Mono"/>
              </a:rPr>
              <a:t> Cost aggregation completed.</a:t>
            </a:r>
            <a:r>
              <a:t>
</a:t>
            </a:r>
            <a:r>
              <a:rPr b="0" sz="975" i="0" u="none">
                <a:solidFill>
                  <a:srgbClr val="F59E0B"/>
                </a:solidFill>
                <a:latin typeface="JetBrains Mono"/>
              </a:rPr>
              <a:t>[WARN]</a:t>
            </a:r>
            <a:r>
              <a:rPr b="0" sz="975" i="0" u="none">
                <a:solidFill>
                  <a:srgbClr val="FAF5FF"/>
                </a:solidFill>
                <a:latin typeface="JetBrains Mono"/>
              </a:rPr>
              <a:t> 2 idle candidates identified.</a:t>
            </a:r>
            <a:r>
              <a:t>
</a:t>
            </a:r>
            <a:r>
              <a:t>
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# Open generated interactive report</a:t>
            </a:r>
            <a:r>
              <a:t>
</a:t>
            </a:r>
            <a:r>
              <a:rPr b="0" sz="975" i="0" u="none">
                <a:solidFill>
                  <a:srgbClr val="C084FC"/>
                </a:solidFill>
                <a:latin typeface="JetBrains Mono"/>
              </a:rPr>
              <a:t>$ open</a:t>
            </a:r>
            <a:r>
              <a:rPr b="0" sz="975" i="0" u="none">
                <a:solidFill>
                  <a:srgbClr val="FAF5FF"/>
                </a:solidFill>
                <a:latin typeface="JetBrains Mono"/>
              </a:rPr>
              <a:t> demo/finops_dashboard.html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5943451"/>
            <a:ext cx="6210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F8FAFC"/>
                </a:solidFill>
                <a:latin typeface="JetBrains Mono"/>
              </a:rPr>
              <a:t>Zero external dependencies required (Python Standard Library 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8698" y="2818804"/>
            <a:ext cx="427330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030A"/>
                </a:solidFill>
                <a:latin typeface="Aptos"/>
              </a:rPr>
              <a:t>Zero Overhead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8698" y="3056929"/>
            <a:ext cx="3758951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C1D95"/>
                </a:solidFill>
                <a:latin typeface="Aptos"/>
              </a:rPr>
              <a:t>Executes standard Python modules without requiring third-party library installations.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1978" y="3593901"/>
            <a:ext cx="422002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030A"/>
                </a:solidFill>
                <a:latin typeface="Aptos"/>
              </a:rPr>
              <a:t>Secure Local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1978" y="3832026"/>
            <a:ext cx="3705671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C1D95"/>
                </a:solidFill>
                <a:latin typeface="Aptos"/>
              </a:rPr>
              <a:t>Evaluates metrics offline without requiring live cloud IAM credentials.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2390" y="4368998"/>
            <a:ext cx="425960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030A"/>
                </a:solidFill>
                <a:latin typeface="Aptos"/>
              </a:rPr>
              <a:t>Synthetic Test Rig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2390" y="4607123"/>
            <a:ext cx="3745259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C1D95"/>
                </a:solidFill>
                <a:latin typeface="Aptos"/>
              </a:rPr>
              <a:t>Demonstrates complete analytics pipeline logic using controlled sample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495800"/>
            <a:ext cx="10972800" cy="495300"/>
          </a:xfrm>
          <a:prstGeom prst="roundRect">
            <a:avLst>
              <a:gd name="adj" fmla="val 15384"/>
            </a:avLst>
          </a:prstGeom>
          <a:solidFill>
            <a:srgbClr val="F3E8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05100"/>
            <a:ext cx="3454449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68849" y="2705100"/>
            <a:ext cx="3454449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8099" y="2705100"/>
            <a:ext cx="3454449" cy="140970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63300" y="533400"/>
            <a:ext cx="704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855F7"/>
                </a:solidFill>
                <a:latin typeface="Aptos"/>
              </a:rPr>
              <a:t>06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52450"/>
            <a:ext cx="4714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E22CE"/>
                </a:solidFill>
                <a:latin typeface="Aptos"/>
              </a:rPr>
              <a:t>SAMPLE EVALUATION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495061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5030A"/>
                </a:solidFill>
                <a:latin typeface="Aptos"/>
              </a:rPr>
              <a:t>Proof of Concept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657725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B0764"/>
                </a:solidFill>
                <a:latin typeface="Aptos"/>
              </a:rPr>
              <a:t>Target Budget Threshold: </a:t>
            </a:r>
            <a:r>
              <a:rPr b="1" sz="1050" i="0" u="none">
                <a:solidFill>
                  <a:srgbClr val="3B0764"/>
                </a:solidFill>
                <a:latin typeface="Aptos"/>
              </a:rPr>
              <a:t>$455.00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6775" y="4672012"/>
            <a:ext cx="35718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1" u="none">
                <a:solidFill>
                  <a:srgbClr val="7E22CE"/>
                </a:solidFill>
                <a:latin typeface="Aptos"/>
              </a:rPr>
              <a:t>Values derived strictly from synthetic sample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0700" y="3019425"/>
            <a:ext cx="3532249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05030A"/>
                </a:solidFill>
                <a:latin typeface="Aptos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0700" y="3629025"/>
            <a:ext cx="3532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7E22CE"/>
                </a:solidFill>
                <a:latin typeface="Aptos"/>
              </a:rPr>
              <a:t>RESOURCE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9949" y="3019425"/>
            <a:ext cx="3532249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9333EA"/>
                </a:solidFill>
                <a:latin typeface="Aptos"/>
              </a:rPr>
              <a:t>$445.25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9949" y="3629025"/>
            <a:ext cx="3532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7E22CE"/>
                </a:solidFill>
                <a:latin typeface="Aptos"/>
              </a:rPr>
              <a:t>TOTAL SPEND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9199" y="3019425"/>
            <a:ext cx="3532249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b="1" sz="4200" i="0" u="none">
                <a:solidFill>
                  <a:srgbClr val="0F172A"/>
                </a:solidFill>
                <a:latin typeface="Aptos"/>
              </a:rPr>
              <a:t>-$9.75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9199" y="3629025"/>
            <a:ext cx="3532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Aptos"/>
              </a:rPr>
              <a:t>VARIANCE (-2.1%)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47800"/>
            <a:ext cx="5334000" cy="4876800"/>
          </a:xfrm>
          <a:prstGeom prst="roundRect">
            <a:avLst>
              <a:gd name="adj" fmla="val 2343"/>
            </a:avLst>
          </a:prstGeom>
          <a:solidFill>
            <a:srgbClr val="FFF5F5"/>
          </a:solidFill>
          <a:ln w="9525">
            <a:solidFill>
              <a:srgbClr val="FE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47800"/>
            <a:ext cx="5334000" cy="4876800"/>
          </a:xfrm>
          <a:prstGeom prst="roundRect">
            <a:avLst>
              <a:gd name="adj" fmla="val 234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785937"/>
            <a:ext cx="142875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785937"/>
            <a:ext cx="2381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214562"/>
            <a:ext cx="1047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500312"/>
            <a:ext cx="10477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786062"/>
            <a:ext cx="1047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2214562"/>
            <a:ext cx="114300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2500312"/>
            <a:ext cx="11430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2786062"/>
            <a:ext cx="114300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63300" y="533400"/>
            <a:ext cx="704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855F7"/>
                </a:solidFill>
                <a:latin typeface="Aptos"/>
              </a:rPr>
              <a:t>07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52450"/>
            <a:ext cx="7262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E22CE"/>
                </a:solidFill>
                <a:latin typeface="Aptos"/>
              </a:rPr>
              <a:t>APPROACH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62000"/>
            <a:ext cx="762595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5030A"/>
                </a:solidFill>
                <a:latin typeface="Aptos"/>
              </a:rPr>
              <a:t>Automated Auditing vs. Manual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5867400"/>
            <a:ext cx="58816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B2C2C"/>
                </a:solidFill>
                <a:latin typeface="Aptos"/>
              </a:rPr>
              <a:t>STATUS: Reactive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5867400"/>
            <a:ext cx="56292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4532D"/>
                </a:solidFill>
                <a:latin typeface="Aptos"/>
              </a:rPr>
              <a:t>STATUS: Proactive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100" y="1762125"/>
            <a:ext cx="331291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B2C2C"/>
                </a:solidFill>
                <a:latin typeface="Aptos"/>
              </a:rPr>
              <a:t>Manual Spreadsheet Audits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950" y="2190750"/>
            <a:ext cx="56816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42A2A"/>
                </a:solidFill>
                <a:latin typeface="Aptos"/>
              </a:rPr>
              <a:t>Time-Intensive:</a:t>
            </a:r>
            <a:r>
              <a:rPr b="0" sz="1050" i="0" u="none">
                <a:solidFill>
                  <a:srgbClr val="742A2A"/>
                </a:solidFill>
                <a:latin typeface="Aptos"/>
              </a:rPr>
              <a:t> Requires manual analyst overhead.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3950" y="2476500"/>
            <a:ext cx="56816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42A2A"/>
                </a:solidFill>
                <a:latin typeface="Aptos"/>
              </a:rPr>
              <a:t>Error-Prone:</a:t>
            </a:r>
            <a:r>
              <a:rPr b="0" sz="1050" i="0" u="none">
                <a:solidFill>
                  <a:srgbClr val="742A2A"/>
                </a:solidFill>
                <a:latin typeface="Aptos"/>
              </a:rPr>
              <a:t> Subject to missing tags and static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50" y="2762250"/>
            <a:ext cx="56816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42A2A"/>
                </a:solidFill>
                <a:latin typeface="Aptos"/>
              </a:rPr>
              <a:t>Lagging Metrics:</a:t>
            </a:r>
            <a:r>
              <a:rPr b="0" sz="1050" i="0" u="none">
                <a:solidFill>
                  <a:srgbClr val="742A2A"/>
                </a:solidFill>
                <a:latin typeface="Aptos"/>
              </a:rPr>
              <a:t> Overspend detected after billing close.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5150" y="1762125"/>
            <a:ext cx="272534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4532D"/>
                </a:solidFill>
                <a:latin typeface="Aptos"/>
              </a:rPr>
              <a:t>Scripted Observability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2275" y="2190750"/>
            <a:ext cx="5419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Aptos"/>
              </a:rPr>
              <a:t>Repeatable Execution:</a:t>
            </a:r>
            <a:r>
              <a:rPr b="0" sz="1050" i="0" u="none">
                <a:solidFill>
                  <a:srgbClr val="166534"/>
                </a:solidFill>
                <a:latin typeface="Aptos"/>
              </a:rPr>
              <a:t> Automated aggregation rules.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2275" y="2476500"/>
            <a:ext cx="5419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Aptos"/>
              </a:rPr>
              <a:t>Instant Exception Visibility:</a:t>
            </a:r>
            <a:r>
              <a:rPr b="0" sz="1050" i="0" u="none">
                <a:solidFill>
                  <a:srgbClr val="166534"/>
                </a:solidFill>
                <a:latin typeface="Aptos"/>
              </a:rPr>
              <a:t> Highlights idle assets.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2275" y="2762250"/>
            <a:ext cx="5419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Aptos"/>
              </a:rPr>
              <a:t>Scalable Foundation:</a:t>
            </a:r>
            <a:r>
              <a:rPr b="0" sz="1050" i="0" u="none">
                <a:solidFill>
                  <a:srgbClr val="166534"/>
                </a:solidFill>
                <a:latin typeface="Aptos"/>
              </a:rPr>
              <a:t> Integrates native provider APIs.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5239"/>
            <a:ext cx="5391150" cy="925710"/>
          </a:xfrm>
          <a:prstGeom prst="roundRect">
            <a:avLst>
              <a:gd name="adj" fmla="val 10289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865239"/>
            <a:ext cx="5391150" cy="925710"/>
          </a:xfrm>
          <a:prstGeom prst="roundRect">
            <a:avLst>
              <a:gd name="adj" fmla="val 10289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81450"/>
            <a:ext cx="5391150" cy="925710"/>
          </a:xfrm>
          <a:prstGeom prst="roundRect">
            <a:avLst>
              <a:gd name="adj" fmla="val 10289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981450"/>
            <a:ext cx="5391150" cy="925710"/>
          </a:xfrm>
          <a:prstGeom prst="roundRect">
            <a:avLst>
              <a:gd name="adj" fmla="val 10289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3775" y="533400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855F7"/>
                </a:solidFill>
                <a:latin typeface="Aptos"/>
              </a:rPr>
              <a:t>08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52450"/>
            <a:ext cx="4048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E22CE"/>
                </a:solidFill>
                <a:latin typeface="Aptos"/>
              </a:rPr>
              <a:t>SCOPE &amp;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425053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5030A"/>
                </a:solidFill>
                <a:latin typeface="Aptos"/>
              </a:rPr>
              <a:t>Prototype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103364"/>
            <a:ext cx="64508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030A"/>
                </a:solidFill>
                <a:latin typeface="Aptos"/>
              </a:rPr>
              <a:t>Synthetic 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379589"/>
            <a:ext cx="6143625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C1D95"/>
                </a:solidFill>
                <a:latin typeface="Aptos"/>
              </a:rPr>
              <a:t>Uses static CSV records without live Cloud Billing API integration.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3103364"/>
            <a:ext cx="5762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030A"/>
                </a:solidFill>
                <a:latin typeface="Aptos"/>
              </a:rPr>
              <a:t>Tagging Vulnerability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9375" y="3379589"/>
            <a:ext cx="5762625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C1D95"/>
                </a:solidFill>
                <a:latin typeface="Aptos"/>
              </a:rPr>
              <a:t>Inconsistent allocation metadata causes misattributed service spend.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219575"/>
            <a:ext cx="64508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030A"/>
                </a:solidFill>
                <a:latin typeface="Aptos"/>
              </a:rPr>
              <a:t>Context-Blind Heuristics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495800"/>
            <a:ext cx="6143625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C1D95"/>
                </a:solidFill>
                <a:latin typeface="Aptos"/>
              </a:rPr>
              <a:t>Idle markers flag low utilization but cannot verify if termination is safe.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4219575"/>
            <a:ext cx="5762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030A"/>
                </a:solidFill>
                <a:latin typeface="Aptos"/>
              </a:rPr>
              <a:t>Rule-Based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4495800"/>
            <a:ext cx="5762625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C1D95"/>
                </a:solidFill>
                <a:latin typeface="Aptos"/>
              </a:rPr>
              <a:t>Lacks predictive ML forecasting and complex anomaly detection engines.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05175"/>
            <a:ext cx="207645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38450" y="3305175"/>
            <a:ext cx="207645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67300" y="3305175"/>
            <a:ext cx="207645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96150" y="3305175"/>
            <a:ext cx="2076450" cy="123825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25000" y="3305175"/>
            <a:ext cx="2057400" cy="1238250"/>
          </a:xfrm>
          <a:prstGeom prst="roundRect">
            <a:avLst>
              <a:gd name="adj" fmla="val 6153"/>
            </a:avLst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63300" y="533400"/>
            <a:ext cx="704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855F7"/>
                </a:solidFill>
                <a:latin typeface="Aptos"/>
              </a:rPr>
              <a:t>09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52450"/>
            <a:ext cx="5524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E22CE"/>
                </a:solidFill>
                <a:latin typeface="Aptos"/>
              </a:rPr>
              <a:t>IMPLEMENTATION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580072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5030A"/>
                </a:solidFill>
                <a:latin typeface="Aptos"/>
              </a:rPr>
              <a:t>Responsible FinOps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495675"/>
            <a:ext cx="17907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E22CE"/>
                </a:solidFill>
                <a:latin typeface="Aptos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8950" y="3495675"/>
            <a:ext cx="17907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E22CE"/>
                </a:solidFill>
                <a:latin typeface="Aptos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495675"/>
            <a:ext cx="17907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E22CE"/>
                </a:solidFill>
                <a:latin typeface="Aptos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6650" y="3495675"/>
            <a:ext cx="17907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7E22CE"/>
                </a:solidFill>
                <a:latin typeface="Aptos"/>
              </a:rPr>
              <a:t>PHASE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0" y="3495675"/>
            <a:ext cx="17716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3E8FF"/>
                </a:solidFill>
                <a:latin typeface="Aptos"/>
              </a:rPr>
              <a:t>PHASE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781425"/>
            <a:ext cx="2200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030A"/>
                </a:solidFill>
                <a:latin typeface="Aptos"/>
              </a:rPr>
              <a:t>Read-Only Auditing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405765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1D95"/>
                </a:solidFill>
                <a:latin typeface="Aptos"/>
              </a:rPr>
              <a:t>Establish cost visibility without active execution rights.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8475" y="3781425"/>
            <a:ext cx="2200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030A"/>
                </a:solidFill>
                <a:latin typeface="Aptos"/>
              </a:rPr>
              <a:t>Strict Tagging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38475" y="405765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1D95"/>
                </a:solidFill>
                <a:latin typeface="Aptos"/>
              </a:rPr>
              <a:t>Enforce metadata tags for unit cost attribution.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7325" y="3781425"/>
            <a:ext cx="2200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030A"/>
                </a:solidFill>
                <a:latin typeface="Aptos"/>
              </a:rPr>
              <a:t>Routed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7325" y="405765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1D95"/>
                </a:solidFill>
                <a:latin typeface="Aptos"/>
              </a:rPr>
              <a:t>Direct variance notifications to accountable teams.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6175" y="3781425"/>
            <a:ext cx="2200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030A"/>
                </a:solidFill>
                <a:latin typeface="Aptos"/>
              </a:rPr>
              <a:t>Human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6175" y="4057650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C1D95"/>
                </a:solidFill>
                <a:latin typeface="Aptos"/>
              </a:rPr>
              <a:t>Review optimization rules prior to automated actions.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0" y="3771900"/>
            <a:ext cx="2200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Aptos"/>
              </a:rPr>
              <a:t>Safe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5500" y="4048125"/>
            <a:ext cx="17716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F3E8FF"/>
                </a:solidFill>
                <a:latin typeface="Aptos"/>
              </a:rPr>
              <a:t>Automate low-risk resource reclamation policies.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47800"/>
            <a:ext cx="5334000" cy="4876800"/>
          </a:xfrm>
          <a:prstGeom prst="roundRect">
            <a:avLst>
              <a:gd name="adj" fmla="val 234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447800"/>
            <a:ext cx="5334000" cy="4876800"/>
          </a:xfrm>
          <a:prstGeom prst="roundRect">
            <a:avLst>
              <a:gd name="adj" fmla="val 2343"/>
            </a:avLst>
          </a:prstGeom>
          <a:solidFill>
            <a:srgbClr val="05030A"/>
          </a:solidFill>
          <a:ln w="9525">
            <a:solidFill>
              <a:srgbClr val="3B07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5610225"/>
            <a:ext cx="4705350" cy="400050"/>
          </a:xfrm>
          <a:prstGeom prst="roundRect">
            <a:avLst>
              <a:gd name="adj" fmla="val 14285"/>
            </a:avLst>
          </a:prstGeom>
          <a:solidFill>
            <a:srgbClr val="FAF5FF"/>
          </a:solidFill>
          <a:ln w="9525">
            <a:solidFill>
              <a:srgbClr val="D8B4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5753100"/>
            <a:ext cx="123825" cy="123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91875" y="533400"/>
            <a:ext cx="6762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A855F7"/>
                </a:solidFill>
                <a:latin typeface="Aptos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52450"/>
            <a:ext cx="5488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7E22CE"/>
                </a:solidFill>
                <a:latin typeface="Aptos"/>
              </a:rPr>
              <a:t>CONCLUSION &amp;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576322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5030A"/>
                </a:solidFill>
                <a:latin typeface="Aptos"/>
              </a:rPr>
              <a:t>Summary &amp; Cloud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5724525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B0764"/>
                </a:solidFill>
                <a:latin typeface="Aptos"/>
              </a:rPr>
              <a:t>Complete Local PoC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5867400"/>
            <a:ext cx="56292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C084FC"/>
                </a:solidFill>
                <a:latin typeface="Aptos"/>
              </a:rPr>
              <a:t>Production tools expand this architecture with native Billing APIs &amp; alert thresholds.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1762125"/>
            <a:ext cx="61757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5030A"/>
                </a:solidFill>
                <a:latin typeface="Aptos"/>
              </a:rPr>
              <a:t>Core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215265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C1D95"/>
                </a:solidFill>
                <a:latin typeface="Aptos"/>
              </a:rPr>
              <a:t>FinOps converts unmonitored cloud spend into a high-fidelity operational signal.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2762250"/>
            <a:ext cx="48006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7E22CE"/>
                </a:solidFill>
                <a:latin typeface="Aptos"/>
              </a:rPr>
              <a:t>While local prototypes validate aggregation logic and reporting interfaces, realized savings depend on trusted data governance and validated human 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1762125"/>
            <a:ext cx="56292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AF5FF"/>
                </a:solidFill>
                <a:latin typeface="Aptos"/>
              </a:rPr>
              <a:t>Industry Standards &amp;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2152650"/>
            <a:ext cx="1619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084FC"/>
                </a:solidFill>
                <a:latin typeface="JetBrains Mono"/>
              </a:rPr>
              <a:t>FinOps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6075" y="2152650"/>
            <a:ext cx="1047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JetBrains Mono"/>
              </a:rPr>
              <a:t>finops.org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2514600"/>
            <a:ext cx="1619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084FC"/>
                </a:solidFill>
                <a:latin typeface="JetBrains Mono"/>
              </a:rPr>
              <a:t>AWS Cost Explorer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01275" y="2514600"/>
            <a:ext cx="13525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JetBrains Mono"/>
              </a:rPr>
              <a:t>aws.amazon.com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2876550"/>
            <a:ext cx="1809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084FC"/>
                </a:solidFill>
                <a:latin typeface="JetBrains Mono"/>
              </a:rPr>
              <a:t>GCP Billing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8875" y="2876550"/>
            <a:ext cx="1524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JetBrains Mono"/>
              </a:rPr>
              <a:t>cloud.google.com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3238500"/>
            <a:ext cx="2000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084FC"/>
                </a:solidFill>
                <a:latin typeface="JetBrains Mono"/>
              </a:rPr>
              <a:t>Azure Cost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0275" y="3238500"/>
            <a:ext cx="1809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JetBrains Mono"/>
              </a:rPr>
              <a:t>learn.microsoft.com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2975" y="4357687"/>
            <a:ext cx="2686050" cy="333375"/>
          </a:xfrm>
          <a:prstGeom prst="roundRect">
            <a:avLst>
              <a:gd name="adj" fmla="val 17142"/>
            </a:avLst>
          </a:prstGeom>
          <a:solidFill>
            <a:srgbClr val="130B24"/>
          </a:solidFill>
          <a:ln w="9525">
            <a:solidFill>
              <a:srgbClr val="2E10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166937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2300287"/>
            <a:ext cx="238125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39355" y="2852737"/>
            <a:ext cx="6313289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AF5F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1312" y="3538537"/>
            <a:ext cx="6429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C084FC"/>
                </a:solidFill>
                <a:latin typeface="Aptos"/>
              </a:rPr>
              <a:t>FinOps &amp; Cloud Cost Observability — System Provisioning &amp; Monitoring (CO5)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69618" y="4433887"/>
            <a:ext cx="305276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D8B4FE"/>
                </a:solidFill>
                <a:latin typeface="JetBrains Mono"/>
              </a:rPr>
              <a:t>python demo/finops_dashboard.py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